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85" r:id="rId44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Grenze"/>
      <p:regular r:id="rId35"/>
      <p:bold r:id="rId36"/>
      <p:italic r:id="rId37"/>
      <p:boldItalic r:id="rId38"/>
    </p:embeddedFont>
    <p:embeddedFont>
      <p:font typeface="Barlow Semi Condense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jSTP+E7Qiv7uisLf8TE9U8CxAj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Grenze-regular.fntdata"/><Relationship Id="rId36" Type="http://schemas.openxmlformats.org/officeDocument/2006/relationships/font" Target="fonts/Grenze-bold.fntdata"/><Relationship Id="rId37" Type="http://schemas.openxmlformats.org/officeDocument/2006/relationships/font" Target="fonts/Grenze-italic.fntdata"/><Relationship Id="rId38" Type="http://schemas.openxmlformats.org/officeDocument/2006/relationships/font" Target="fonts/Grenze-boldItalic.fntdata"/><Relationship Id="rId39" Type="http://schemas.openxmlformats.org/officeDocument/2006/relationships/font" Target="fonts/BarlowSemiCondensed-regular.fntdata"/><Relationship Id="rId40" Type="http://schemas.openxmlformats.org/officeDocument/2006/relationships/font" Target="fonts/BarlowSemiCondensed-bold.fntdata"/><Relationship Id="rId41" Type="http://schemas.openxmlformats.org/officeDocument/2006/relationships/font" Target="fonts/BarlowSemiCondensed-italic.fntdata"/><Relationship Id="rId42" Type="http://schemas.openxmlformats.org/officeDocument/2006/relationships/font" Target="fonts/BarlowSemiCondensed-boldItalic.fntdata"/><Relationship Id="rId43" Type="http://customschemas.google.com/relationships/presentationmetadata" Target="metadata"/><Relationship Id="rId44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GC</a:t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GC</a:t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6084bc3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Meg</a:t>
            </a:r>
            <a:endParaRPr/>
          </a:p>
        </p:txBody>
      </p:sp>
      <p:sp>
        <p:nvSpPr>
          <p:cNvPr id="207" name="Google Shape;207;g3f6084bc3a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Meg</a:t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Jeff</a:t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Meg</a:t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Jeff</a:t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Jeff</a:t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GC</a:t>
            </a:r>
            <a:endParaRPr/>
          </a:p>
        </p:txBody>
      </p:sp>
      <p:sp>
        <p:nvSpPr>
          <p:cNvPr id="323" name="Google Shape;3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JM</a:t>
            </a:r>
            <a:endParaRPr/>
          </a:p>
        </p:txBody>
      </p:sp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Meg</a:t>
            </a:r>
            <a:endParaRPr/>
          </a:p>
        </p:txBody>
      </p:sp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</a:t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enze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renz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renz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renz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renze"/>
              <a:buNone/>
              <a:defRPr b="0" i="0" sz="4400" u="none" cap="none" strike="noStrike">
                <a:solidFill>
                  <a:schemeClr val="dk1"/>
                </a:solidFill>
                <a:latin typeface="Grenze"/>
                <a:ea typeface="Grenze"/>
                <a:cs typeface="Grenze"/>
                <a:sym typeface="Grenz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1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02920" y="329184"/>
            <a:ext cx="7680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Once Upon a Time: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2920" y="93268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Does Race Decide?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352" y="155448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1231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By: Gian-Carlo, Jaina, Jeffrey, Mayon, and Megan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2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365760" y="182880"/>
            <a:ext cx="8412480" cy="556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Introduction</a:t>
            </a:r>
            <a:r>
              <a:rPr b="1" i="0" lang="en-US" sz="2800" u="none" cap="none" strike="noStrike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: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475488" y="868680"/>
            <a:ext cx="3035808" cy="122529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76656" y="1051560"/>
            <a:ext cx="2633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Evolution of</a:t>
            </a:r>
            <a:endParaRPr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Dating with </a:t>
            </a: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Technology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054096" y="1170432"/>
            <a:ext cx="3035808" cy="122529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255264" y="1353312"/>
            <a:ext cx="2633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Worldwide</a:t>
            </a:r>
            <a:endParaRPr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Loneliness</a:t>
            </a:r>
            <a:endParaRPr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Epidemic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632704" y="1472184"/>
            <a:ext cx="3035808" cy="122529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833872" y="1655064"/>
            <a:ext cx="2633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Are </a:t>
            </a: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Interracial</a:t>
            </a:r>
            <a:endParaRPr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Couples</a:t>
            </a: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 Actually</a:t>
            </a:r>
            <a:endParaRPr/>
          </a:p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a Rarity?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3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365760" y="182880"/>
            <a:ext cx="8412480" cy="556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Research Question</a:t>
            </a:r>
            <a:r>
              <a:rPr b="1" i="0" lang="en-US" sz="28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: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417320" y="969264"/>
            <a:ext cx="6309360" cy="131673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737360" y="1170432"/>
            <a:ext cx="566928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51231B"/>
                </a:solidFill>
                <a:latin typeface="Grenze"/>
              </a:rPr>
              <a:t>Can we predict a person’s categorical Yes/No decision using their self-reported racial preference—and how much do post-date ratings add?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3.pn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Prior Work &amp;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Why This Dataset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896112"/>
            <a:ext cx="7863840" cy="877824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76656" y="1042416"/>
            <a:ext cx="74249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This speed-dating dataset underlies published studies of gender (QJE, 2006) and racial preferences (Review of Economic Studies, 2008).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57200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40080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Grenze"/>
              </a:rPr>
              <a:t>Prior Work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40080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Fisman et al. directly studied racial preferences and same-race choices.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145536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328416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Grenze"/>
              </a:rPr>
              <a:t>Our Contribution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3328416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Treat each Yes/No choice as a prediction problem using held-out participants.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833872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016752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Grenze"/>
              </a:rPr>
              <a:t>Why This Dataset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6016752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Real decisions, race on both sides, a pre-event preference score, and post-date ratings.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5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The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Data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86384" y="932688"/>
            <a:ext cx="1737360" cy="84124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77824" y="104241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5F5F"/>
                </a:solidFill>
                <a:latin typeface="Grenze"/>
              </a:rPr>
              <a:t>6,865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841248" y="137160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7A5C50"/>
                </a:solidFill>
                <a:latin typeface="Barlow Semi Condensed"/>
              </a:rPr>
              <a:t>Complete Decisions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670048" y="932688"/>
            <a:ext cx="1737360" cy="84124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761488" y="104241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5F5F"/>
                </a:solidFill>
                <a:latin typeface="Grenze"/>
              </a:rPr>
              <a:t>43.2%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2724912" y="137160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Said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Yes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553712" y="932688"/>
            <a:ext cx="1737360" cy="84124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645152" y="104241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5F5F"/>
                </a:solidFill>
                <a:latin typeface="Grenze"/>
              </a:rPr>
              <a:t>56.8%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4608576" y="137160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Majority-Baseline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Accuracy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437376" y="932688"/>
            <a:ext cx="1737360" cy="84124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528816" y="104241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5F5F"/>
                </a:solidFill>
                <a:latin typeface="Grenze"/>
              </a:rPr>
              <a:t>14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6492240" y="137160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7A5C50"/>
                </a:solidFill>
                <a:latin typeface="Barlow Semi Condensed"/>
              </a:rPr>
              <a:t>Model Predictors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86384" y="1956816"/>
            <a:ext cx="7333488" cy="1463040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005840" y="2121408"/>
            <a:ext cx="33101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Cleaning Decisions:
• Complete cases on outcome and all predictors
• Correctly mapped race code 6 to “Other”
• Retained 528 participants
• Used iid only to control the split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4645152" y="2121408"/>
            <a:ext cx="331012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5F5F"/>
                </a:solidFill>
                <a:latin typeface="Barlow Semi Condensed"/>
              </a:rPr>
              <a:t>Banned as Predictors:
• Partner decision (dec_o)
• Match flag (contains both decisions)
• Like / probability-of-Yes restatements
• Participant ID (iid)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8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0" y="7132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2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0" y="1115568"/>
            <a:ext cx="91440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EDA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0" y="1956816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Who says yes, and to whom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5.png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Demographics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545 participants · outputs/figures/eda/01_race_distribution.png</a:t>
            </a:r>
            <a:endParaRPr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786384"/>
            <a:ext cx="3803904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The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Preference Matrix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Rows make the decision; columns are the partners · n = 8,242 observed decisions</a:t>
            </a:r>
            <a:endParaRPr/>
          </a:p>
        </p:txBody>
      </p:sp>
      <p:pic>
        <p:nvPicPr>
          <p:cNvPr id="169" name="Picture 168" descr="03_race_decis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3771" y="786384"/>
            <a:ext cx="4356459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Does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Same Race</a:t>
            </a: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 Matter?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Barlow Semi Condensed"/>
              </a:rPr>
              <a:t>43.4% same-race · 41.2% cross-race · descriptive association, not causation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Full EDA: n = 8,242 · modelling cohort: 45.1% vs 41.9%, χ² = 7.01, p = 0.008</a:t>
            </a:r>
            <a:endParaRPr/>
          </a:p>
        </p:txBody>
      </p:sp>
      <p:pic>
        <p:nvPicPr>
          <p:cNvPr id="178" name="Picture 17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786384"/>
            <a:ext cx="3438144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What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Separates</a:t>
            </a: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 a Yes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Yes vs no: </a:t>
            </a:r>
            <a:r>
              <a:rPr b="0" i="0" lang="en-US" sz="1100">
                <a:solidFill>
                  <a:srgbClr val="51231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attractiveness 7.27 vs 5.35  ·  shared interests 6.44 vs 4.71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Post-date ratings are close to the outcome; they support prediction, not pre-date screening.</a:t>
            </a:r>
            <a:endParaRPr/>
          </a:p>
        </p:txBody>
      </p: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822960"/>
            <a:ext cx="3401568" cy="3401568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822960"/>
            <a:ext cx="340156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Stated Racial Preference</a:t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imprace is measured before the dates (0 = not important, 10 = very important) · the relationship is weak and non-monotonic</a:t>
            </a:r>
            <a:endParaRPr/>
          </a:p>
        </p:txBody>
      </p:sp>
      <p:pic>
        <p:nvPicPr>
          <p:cNvPr id="196" name="Picture 195" descr="10_imprace_decis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924" y="804672"/>
            <a:ext cx="5276151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7.png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 txBox="1"/>
          <p:nvPr/>
        </p:nvSpPr>
        <p:spPr>
          <a:xfrm>
            <a:off x="0" y="7132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3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0" y="1115568"/>
            <a:ext cx="91440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The Models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0" y="1956816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F5F5F"/>
                </a:solidFill>
                <a:latin typeface="Barlow Semi Condensed"/>
              </a:rPr>
              <a:t>Race-related benchmark + three full models · one held-out participant test set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09" name="Google Shape;209;g3f6084bc3a3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6084bc3a3_2_0"/>
          <p:cNvSpPr txBox="1"/>
          <p:nvPr/>
        </p:nvSpPr>
        <p:spPr>
          <a:xfrm>
            <a:off x="365760" y="182880"/>
            <a:ext cx="84126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Training &amp; Evaluation</a:t>
            </a:r>
            <a:endParaRPr/>
          </a:p>
        </p:txBody>
      </p:sp>
      <p:sp>
        <p:nvSpPr>
          <p:cNvPr id="211" name="Google Shape;211;g3f6084bc3a3_2_0"/>
          <p:cNvSpPr txBox="1"/>
          <p:nvPr/>
        </p:nvSpPr>
        <p:spPr>
          <a:xfrm>
            <a:off x="365760" y="4681728"/>
            <a:ext cx="841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Same complete-case cohort, participant split, 0.50 threshold, and metric function for every model</a:t>
            </a:r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594360" y="1143000"/>
            <a:ext cx="2423160" cy="2331720"/>
          </a:xfrm>
          <a:prstGeom prst="roundRect">
            <a:avLst/>
          </a:prstGeom>
          <a:solidFill>
            <a:srgbClr val="FDF9EC"/>
          </a:solidFill>
          <a:ln w="15875">
            <a:solidFill>
              <a:srgbClr val="FF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58952" y="1261872"/>
            <a:ext cx="2093976" cy="3200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500" b="1">
                <a:solidFill>
                  <a:srgbClr val="51231B"/>
                </a:solidFill>
                <a:latin typeface="Grenze"/>
              </a:rPr>
              <a:t>Group Split by iid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58952" y="1618488"/>
            <a:ext cx="2093976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51231B"/>
                </a:solidFill>
                <a:latin typeface="Barlow Semi Condensed"/>
              </a:rPr>
              <a:t>528 participants
Train: 422 people
5,417 decisions
Test: 106 people
1,448 decisions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246120" y="1143000"/>
            <a:ext cx="2423160" cy="2331720"/>
          </a:xfrm>
          <a:prstGeom prst="roundRect">
            <a:avLst/>
          </a:prstGeom>
          <a:solidFill>
            <a:srgbClr val="FDF9EC"/>
          </a:solidFill>
          <a:ln w="15875">
            <a:solidFill>
              <a:srgbClr val="FF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410712" y="1261872"/>
            <a:ext cx="2093976" cy="3200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500" b="1">
                <a:solidFill>
                  <a:srgbClr val="51231B"/>
                </a:solidFill>
                <a:latin typeface="Grenze"/>
              </a:rPr>
              <a:t>Why Group the Split?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410712" y="1618488"/>
            <a:ext cx="2093976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51231B"/>
                </a:solidFill>
                <a:latin typeface="Barlow Semi Condensed"/>
              </a:rPr>
              <a:t>Every decision from one person stays entirely in train or test.
This prevents the model from learning a person in training and being tested on that same person.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5897880" y="1143000"/>
            <a:ext cx="2423160" cy="2331720"/>
          </a:xfrm>
          <a:prstGeom prst="roundRect">
            <a:avLst/>
          </a:prstGeom>
          <a:solidFill>
            <a:srgbClr val="FDF9EC"/>
          </a:solidFill>
          <a:ln w="15875">
            <a:solidFill>
              <a:srgbClr val="FF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062472" y="1261872"/>
            <a:ext cx="2093976" cy="32004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r>
              <a:rPr sz="1500" b="1">
                <a:solidFill>
                  <a:srgbClr val="51231B"/>
                </a:solidFill>
                <a:latin typeface="Grenze"/>
              </a:rPr>
              <a:t>How We Judged Models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062472" y="1618488"/>
            <a:ext cx="2093976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51231B"/>
                </a:solidFill>
                <a:latin typeface="Barlow Semi Condensed"/>
              </a:rPr>
              <a:t>Accuracy: overall correctness
Recall: actual Yes found
F1: precision–recall balance
ROC-AUC: ranking across thresholds
Calibration: probability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Logistic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Regression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Barlow Semi Condensed"/>
              </a:rPr>
              <a:t>Accuracy 0.760 · F1 0.728 · ROC-AUC 0.830     best accuracy and F1; easiest to interpret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Common held-out participants · coefficients show conditional associations</a:t>
            </a:r>
            <a:endParaRPr/>
          </a:p>
        </p:txBody>
      </p:sp>
      <p:pic>
        <p:nvPicPr>
          <p:cNvPr id="223" name="Picture 222" descr="01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3091" y="779635"/>
            <a:ext cx="3401568" cy="3401568"/>
          </a:xfrm>
          <a:prstGeom prst="rect">
            <a:avLst/>
          </a:prstGeom>
        </p:spPr>
      </p:pic>
      <p:pic>
        <p:nvPicPr>
          <p:cNvPr id="224" name="Picture 223" descr="04_coefficient_p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1546" y="912400"/>
            <a:ext cx="3584028" cy="3136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27" name="Google Shape;2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Random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Forest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Barlow Semi Condensed"/>
              </a:rPr>
              <a:t>Accuracy 0.742 · F1 0.702 · ROC-AUC 0.831     highest AUC by only 0.001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Common held-out participants · OOB error retained only as a training diagnostic</a:t>
            </a:r>
            <a:endParaRPr/>
          </a:p>
        </p:txBody>
      </p:sp>
      <p:pic>
        <p:nvPicPr>
          <p:cNvPr id="233" name="Picture 232" descr="03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822960"/>
            <a:ext cx="3401568" cy="3401568"/>
          </a:xfrm>
          <a:prstGeom prst="rect">
            <a:avLst/>
          </a:prstGeom>
        </p:spPr>
      </p:pic>
      <p:pic>
        <p:nvPicPr>
          <p:cNvPr id="234" name="Picture 233" descr="02_variable_impor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822960"/>
            <a:ext cx="340156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37" name="Google Shape;2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Neural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Network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Barlow Semi Condensed"/>
              </a:rPr>
              <a:t>Accuracy 0.718 · F1 0.682 · ROC-AUC 0.794     added complexity did not improve prediction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Common held-out participants · permutation importance describes model reliance</a:t>
            </a:r>
            <a:endParaRPr/>
          </a:p>
        </p:txBody>
      </p:sp>
      <p:pic>
        <p:nvPicPr>
          <p:cNvPr id="243" name="Picture 242" descr="03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620" y="1251682"/>
            <a:ext cx="3931920" cy="2457450"/>
          </a:xfrm>
          <a:prstGeom prst="rect">
            <a:avLst/>
          </a:prstGeom>
        </p:spPr>
      </p:pic>
      <p:pic>
        <p:nvPicPr>
          <p:cNvPr id="244" name="Picture 243" descr="07_permutation_impor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75" y="1321063"/>
            <a:ext cx="3709924" cy="2318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47" name="Google Shape;2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Are the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Probabilities</a:t>
            </a: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 Honest?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365760" y="422452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1231B"/>
                </a:solidFill>
                <a:latin typeface="Barlow Semi Condensed"/>
              </a:rPr>
              <a:t>Calibration asks: when a model predicts 70% Yes, do about 70% actually say Yes?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Closer to the diagonal is better · random-forest Brier score = 0.169 (lower is better)</a:t>
            </a:r>
            <a:endParaRPr/>
          </a:p>
        </p:txBody>
      </p:sp>
      <p:pic>
        <p:nvPicPr>
          <p:cNvPr id="253" name="Picture 252" descr="03_calibration_p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841248"/>
            <a:ext cx="3346704" cy="3346704"/>
          </a:xfrm>
          <a:prstGeom prst="rect">
            <a:avLst/>
          </a:prstGeom>
        </p:spPr>
      </p:pic>
      <p:pic>
        <p:nvPicPr>
          <p:cNvPr id="254" name="Picture 253" descr="05_calibration_p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841248"/>
            <a:ext cx="3346704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5.png"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Model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Comparison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1188720" y="1042416"/>
            <a:ext cx="6766560" cy="193852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1481328" y="1261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Model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4041648" y="1261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Accuracy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5431536" y="1261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F1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6821424" y="1261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51231B"/>
                </a:solidFill>
                <a:latin typeface="Barlow Semi Condensed"/>
              </a:rPr>
              <a:t>ROC-AUC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481328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Barlow Semi Condensed"/>
              </a:rPr>
              <a:t>Race benchmark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4041648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Barlow Semi Condensed"/>
              </a:rPr>
              <a:t>0.588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5431536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Barlow Semi Condensed"/>
              </a:rPr>
              <a:t>0.380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6821424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Barlow Semi Condensed"/>
              </a:rPr>
              <a:t>0.601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481328" y="20299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Logistic regression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4041648" y="20299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0.760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5431536" y="20299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0.728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6821424" y="20299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0.830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1481328" y="2414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Neural network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4041648" y="2414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0.718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5431536" y="2414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0.682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6821424" y="241401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0.794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365760" y="3054096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FF5F5F"/>
                </a:solidFill>
                <a:latin typeface="Barlow Semi Condensed"/>
              </a:rPr>
              <a:t>Logistic regression leads accuracy and F1; random forest leads ROC-AUC by 0.001.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All metrics use one function on the same 106 held-out participants (1,448 decisions).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1481328" y="27249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Random forest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4041648" y="27249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0.742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5431536" y="27249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0.702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6821424" y="27249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5C50"/>
                </a:solidFill>
                <a:latin typeface="Barlow Semi Condensed"/>
              </a:rPr>
              <a:t>0.831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3.png" id="282" name="Google Shape;2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0" y="7132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4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0" y="1115568"/>
            <a:ext cx="91440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Does Race Predict?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0" y="1956816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Putting a number on 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90" name="Google Shape;2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Race-Related Benchmark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365760" y="4187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5F5F"/>
                </a:solidFill>
                <a:latin typeface="Barlow Semi Condensed"/>
              </a:rPr>
              <a:t>Accuracy 0.588 · Recall 0.277 · ROC-AUC 0.601     better than chance, weak for individuals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Uses race + partner race + samerace + imprace + preference alignment only</a:t>
            </a:r>
            <a:endParaRPr/>
          </a:p>
        </p:txBody>
      </p:sp>
      <p:pic>
        <p:nvPicPr>
          <p:cNvPr id="294" name="Picture 293" descr="01_roc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245" y="804672"/>
            <a:ext cx="557151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What the Models Mean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365760" y="4187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5F5F"/>
                </a:solidFill>
                <a:latin typeface="Barlow Semi Condensed"/>
              </a:rPr>
              <a:t>Attractiveness is strongest; fun and shared interests follow. Race-related effects are smaller.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Importance and coefficients describe model behavior—not causal effects.</a:t>
            </a:r>
            <a:endParaRPr/>
          </a:p>
        </p:txBody>
      </p:sp>
      <p:pic>
        <p:nvPicPr>
          <p:cNvPr id="303" name="Picture 302" descr="04_coefficient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245" y="804672"/>
            <a:ext cx="557151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16.png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Bias Check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365760" y="4187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5F5F"/>
                </a:solidFill>
                <a:latin typeface="Barlow Semi Condensed"/>
              </a:rPr>
              <a:t>Unequal group sizes make subgroup error rates unstable; no fairness claim is made.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>
                <a:solidFill>
                  <a:srgbClr val="7A5C50"/>
                </a:solidFill>
                <a:latin typeface="Barlow Semi Condensed"/>
              </a:rPr>
              <a:t>26 Black participants vs 304 European/Caucasian-American participants · future checks need participant-level bootstrap intervals</a:t>
            </a:r>
            <a:endParaRPr/>
          </a:p>
        </p:txBody>
      </p:sp>
      <p:pic>
        <p:nvPicPr>
          <p:cNvPr id="312" name="Picture 3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245" y="804672"/>
            <a:ext cx="557151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3.png" id="317" name="Google Shape;3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3"/>
          <p:cNvSpPr txBox="1"/>
          <p:nvPr/>
        </p:nvSpPr>
        <p:spPr>
          <a:xfrm>
            <a:off x="0" y="7132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5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0" y="1115568"/>
            <a:ext cx="91440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Conclusion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0" y="1956816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What we found · what we cannot claim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05.png"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Conclusions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and Predictions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566928" y="932688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01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1152144" y="914400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51231B"/>
                </a:solidFill>
                <a:latin typeface="Barlow Semi Condensed"/>
              </a:rPr>
              <a:t>The decision is predictable.
Logistic regression reaches 76.0% accuracy; random forest reaches ROC-AUC 0.831.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566928" y="153619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02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152144" y="1517904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51231B"/>
                </a:solidFill>
                <a:latin typeface="Barlow Semi Condensed"/>
              </a:rPr>
              <a:t>Race-related information alone is weak.
The restricted benchmark reaches ROC-AUC 0.601 and recall 0.277.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566928" y="2139696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03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152144" y="2121408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51231B"/>
                </a:solidFill>
                <a:latin typeface="Barlow Semi Condensed"/>
              </a:rPr>
              <a:t>Post-date impressions carry most of the signal.
Attractiveness, fun, and shared interests dominate the full models.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566928" y="2743200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04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1152144" y="2724912"/>
            <a:ext cx="70043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51231B"/>
                </a:solidFill>
                <a:latin typeface="Barlow Semi Condensed"/>
              </a:rPr>
              <a:t>The result is predictive, not causal.
It describes this historical experiment and is not a dating-app ranking rule.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566928" y="3383280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F5F5F"/>
                </a:solidFill>
                <a:latin typeface="Grenze"/>
              </a:rPr>
              <a:t>Racial preference adds limited signal; interpersonal ratings explain far more predictive performance.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21.png" id="340" name="Google Shape;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Validation /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Application</a:t>
            </a: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: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822960" y="1133856"/>
            <a:ext cx="7863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FF5F5F"/>
                </a:solidFill>
                <a:latin typeface="Grenze"/>
              </a:rPr>
              <a:t>01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682496" y="1152144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51231B"/>
                </a:solidFill>
                <a:latin typeface="Grenze"/>
              </a:rPr>
              <a:t>Participant Holdout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682496" y="1517904"/>
            <a:ext cx="261518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A5C50"/>
                </a:solidFill>
                <a:latin typeface="Barlow Semi Condensed"/>
              </a:rPr>
              <a:t>80/20 split by iid; no person appears in both partitions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4846320" y="1133856"/>
            <a:ext cx="7863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FF5F5F"/>
                </a:solidFill>
                <a:latin typeface="Grenze"/>
              </a:rPr>
              <a:t>02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5705856" y="1152144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51231B"/>
                </a:solidFill>
                <a:latin typeface="Grenze"/>
              </a:rPr>
              <a:t>Fair Comparison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5705856" y="1517904"/>
            <a:ext cx="261518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A5C50"/>
                </a:solidFill>
                <a:latin typeface="Barlow Semi Condensed"/>
              </a:rPr>
              <a:t>Same cohort, predictors, threshold, and evaluator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822960" y="2615184"/>
            <a:ext cx="7863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FF5F5F"/>
                </a:solidFill>
                <a:latin typeface="Grenze"/>
              </a:rPr>
              <a:t>03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1682496" y="2633472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51231B"/>
                </a:solidFill>
                <a:latin typeface="Grenze"/>
              </a:rPr>
              <a:t>Realistic Application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1682496" y="2999232"/>
            <a:ext cx="261518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A5C50"/>
                </a:solidFill>
                <a:latin typeface="Barlow Semi Condensed"/>
              </a:rPr>
              <a:t>Post-date classification—not attraction before two people meet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4846320" y="2615184"/>
            <a:ext cx="7863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FF5F5F"/>
                </a:solidFill>
                <a:latin typeface="Grenze"/>
              </a:rPr>
              <a:t>04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5705856" y="2633472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51231B"/>
                </a:solidFill>
                <a:latin typeface="Grenze"/>
              </a:rPr>
              <a:t>Next Validation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5705856" y="2999232"/>
            <a:ext cx="261518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A5C50"/>
                </a:solidFill>
                <a:latin typeface="Barlow Semi Condensed"/>
              </a:rPr>
              <a:t>Repeated group CV, wave holdout, and an external modern sample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23.png" id="358" name="Google Shape;3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Sources of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Error &amp; Bias</a:t>
            </a: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: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640080" y="10058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FF5F5F"/>
                </a:solidFill>
                <a:latin typeface="Grenze"/>
              </a:rPr>
              <a:t>Historical Columbia Volunteer Sample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3291840" y="10058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51231B"/>
                </a:solidFill>
                <a:latin typeface="Grenze"/>
              </a:rPr>
              <a:t>Subjective Post-Date Ratings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5943600" y="10058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FF5F5F"/>
                </a:solidFill>
                <a:latin typeface="Grenze"/>
              </a:rPr>
              <a:t>Four Minutes, Not a Relationship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1965960" y="2139696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51231B"/>
                </a:solidFill>
                <a:latin typeface="Grenze"/>
              </a:rPr>
              <a:t>Coarse, Imbalanced Race Categories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4617720" y="2139696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FF5F5F"/>
                </a:solidFill>
                <a:latin typeface="Grenze"/>
              </a:rPr>
              <a:t>Complete Cases + One Split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365760" y="314553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A5C50"/>
                </a:solidFill>
                <a:latin typeface="Barlow Semi Condensed"/>
              </a:rPr>
              <a:t>dec is stated interest, not an actual relationship. Post-date ratings are close to the outcome; prediction and mediation are not causation.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25.png" id="370" name="Google Shape;3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AI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Usage</a:t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786384" y="1005840"/>
            <a:ext cx="2395728" cy="140817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969264" y="1188720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Codex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969264" y="1609344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7A5C50"/>
                </a:solidFill>
                <a:latin typeface="Barlow Semi Condensed"/>
              </a:rPr>
              <a:t>Analysis and validation updates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969264" y="193852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7A5C50"/>
                </a:solidFill>
                <a:latin typeface="Barlow Semi Condensed"/>
              </a:rPr>
              <a:t>PowerPoint revisions</a:t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3328416" y="1005840"/>
            <a:ext cx="2395728" cy="140817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3511296" y="1188720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Cursor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3511296" y="1609344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Brainstorming ideas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3511296" y="193852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Citation compilation</a:t>
            </a:r>
            <a:endParaRPr/>
          </a:p>
        </p:txBody>
      </p:sp>
      <p:sp>
        <p:nvSpPr>
          <p:cNvPr id="380" name="Google Shape;380;p27"/>
          <p:cNvSpPr/>
          <p:nvPr/>
        </p:nvSpPr>
        <p:spPr>
          <a:xfrm>
            <a:off x="5870448" y="1005840"/>
            <a:ext cx="2395728" cy="1408176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81" name="Google Shape;381;p27"/>
          <p:cNvSpPr txBox="1"/>
          <p:nvPr/>
        </p:nvSpPr>
        <p:spPr>
          <a:xfrm>
            <a:off x="6053328" y="1188720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Claude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6053328" y="1609344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Finding candidate datasets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6053328" y="193852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Slideshow outline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FF5F5F"/>
                </a:solidFill>
                <a:latin typeface="Barlow Semi Condensed"/>
              </a:rPr>
              <a:t>AI assisted coding, debugging, sourcing, and presentation editing; the team selected the research question and interpretation.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21.png" id="389" name="Google Shape;3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Citations </a:t>
            </a:r>
            <a:r>
              <a:rPr b="1" i="0" lang="en-US" sz="2600">
                <a:solidFill>
                  <a:srgbClr val="FF5F5F"/>
                </a:solidFill>
                <a:latin typeface="Grenze"/>
                <a:ea typeface="Grenze"/>
                <a:cs typeface="Grenze"/>
                <a:sym typeface="Grenze"/>
              </a:rPr>
              <a:t>&amp; Data Sources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548640" y="9326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PAPER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548640" y="1152144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>
                <a:solidFill>
                  <a:srgbClr val="7A5C50"/>
                </a:solidFill>
                <a:latin typeface="Barlow Semi Condensed"/>
              </a:rPr>
              <a:t>Fisman, Iyengar, Kamenica &amp; Simonson (2006). Gender Differences in Mate Selection. QJE 121(2), 673–697.</a:t>
            </a:r>
            <a:endParaRPr/>
          </a:p>
        </p:txBody>
      </p:sp>
      <p:sp>
        <p:nvSpPr>
          <p:cNvPr id="393" name="Google Shape;393;p28"/>
          <p:cNvSpPr txBox="1"/>
          <p:nvPr/>
        </p:nvSpPr>
        <p:spPr>
          <a:xfrm>
            <a:off x="548640" y="179222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DATA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548640" y="2011680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>
                <a:solidFill>
                  <a:srgbClr val="7A5C50"/>
                </a:solidFill>
                <a:latin typeface="Barlow Semi Condensed"/>
              </a:rPr>
              <a:t>Speed Dating Experiment and variable key — Columbia Business School, 21 waves, 2002–2004. data/Speed_Dating_Data.csv.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548640" y="265176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CONTEXT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548640" y="2871216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Pew Research Center. (2020, August 20). Nearly half of U.S. adults say dating has gotten harder for most people in the last 10 years.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548640" y="351129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CONTEXT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548640" y="3730752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Pew Research Center. (2017, May 18). Intermarriage in the U.S. 50 years after Loving v. Virginia.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4663440" y="9326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ANALYSIS CODE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4663440" y="1152144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>
                <a:solidFill>
                  <a:srgbClr val="7A5C50"/>
                </a:solidFill>
                <a:latin typeface="Barlow Semi Condensed"/>
              </a:rPr>
              <a:t>github.com/mayonm/z0-v2 — final.Rmd creates the shared cohort, participant split, models, metrics, and figures.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4663440" y="179222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>
                <a:solidFill>
                  <a:srgbClr val="FF5F5F"/>
                </a:solidFill>
                <a:latin typeface="Barlow Semi Condensed"/>
              </a:rPr>
              <a:t>PRIOR WORK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4663440" y="2011680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7A5C50"/>
                </a:solidFill>
                <a:latin typeface="Barlow Semi Condensed"/>
              </a:rPr>
              <a:t>Fisman, Iyengar, Kamenica &amp; Simonson (2008). Racial Preferences in Dating. Review of Economic Studies 75(1), 117–132. DOI: 10.1111/j.1467-937X.2007.00465.x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4663440" y="265176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SOFTWARE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4663440" y="2871216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 with randomForest, nnet, pROC, glm, ggplot2 and dplyr.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4663440" y="351129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F5F5F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TEMPLATE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4663440" y="3730752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Template by Slidesgo, icons by Flaticon, illustrations by Freepik. Fonts: Grenze and Barlow Semi Condensed.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24.png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502920" y="1042416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51231B"/>
                </a:solidFill>
                <a:latin typeface="Grenze"/>
                <a:ea typeface="Grenze"/>
                <a:cs typeface="Grenze"/>
                <a:sym typeface="Grenze"/>
              </a:rPr>
              <a:t>Thank you!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530352" y="1956816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5F5F"/>
                </a:solidFill>
                <a:latin typeface="Barlow Semi Condensed"/>
              </a:rPr>
              <a:t>Gian-Carlo · Jaina · Jeffrey · Mayon · Megan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530352" y="2377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7A5C5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3" name="Google Shape;113;p4"/>
          <p:cNvSpPr txBox="1"/>
          <p:nvPr/>
        </p:nvSpPr>
        <p:spPr>
          <a:xfrm>
            <a:off x="365760" y="182880"/>
            <a:ext cx="8412480" cy="51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51231B"/>
                </a:solidFill>
                <a:latin typeface="Grenze"/>
              </a:rPr>
              <a:t>Variables Used in the Models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896112"/>
            <a:ext cx="7863840" cy="877824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76656" y="1042416"/>
            <a:ext cx="74249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Barlow Semi Condensed"/>
              </a:rPr>
              <a:t>One row is one participant’s Yes/No decision about one partner. iid identifies participants for splitting, but is never a predictor.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57200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40080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Grenze"/>
              </a:rPr>
              <a:t>People &amp; Outcome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40080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dec: Yes/No outcome
gender, age, race: decision-maker
age_o, race_o: partner
iid: split identifier only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145536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328416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51231B"/>
                </a:solidFill>
                <a:latin typeface="Grenze"/>
              </a:rPr>
              <a:t>Race Preference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3328416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samerace: same recorded race (0/1)
imprace: importance of same-race dating (0–10)
alignment = imprace × samerace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833872" y="1956816"/>
            <a:ext cx="2496312" cy="1115568"/>
          </a:xfrm>
          <a:prstGeom prst="roundRect">
            <a:avLst>
              <a:gd fmla="val 10000" name="adj"/>
            </a:avLst>
          </a:prstGeom>
          <a:solidFill>
            <a:srgbClr val="FDF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016752" y="2139696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FF5F5F"/>
                </a:solidFill>
                <a:latin typeface="Grenze"/>
              </a:rPr>
              <a:t>Post-Date Ratings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6016752" y="2487168"/>
            <a:ext cx="21305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7A5C50"/>
                </a:solidFill>
                <a:latin typeface="Barlow Semi Condensed"/>
              </a:rPr>
              <a:t>attr: attractiveness
sinc: sincerity  ·  intel: intelligence
fun: fun  ·  amb: ambition
shar: shared interests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